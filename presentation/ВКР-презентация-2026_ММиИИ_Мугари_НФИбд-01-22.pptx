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74" r:id="rId4"/>
    <p:sldId id="273" r:id="rId5"/>
    <p:sldId id="276" r:id="rId6"/>
    <p:sldId id="278" r:id="rId7"/>
    <p:sldId id="277" r:id="rId8"/>
    <p:sldId id="279" r:id="rId9"/>
    <p:sldId id="282" r:id="rId10"/>
    <p:sldId id="280" r:id="rId11"/>
    <p:sldId id="285" r:id="rId12"/>
    <p:sldId id="284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">
          <p15:clr>
            <a:srgbClr val="A4A3A4"/>
          </p15:clr>
        </p15:guide>
        <p15:guide id="2" orient="horz" pos="1620">
          <p15:clr>
            <a:srgbClr val="A4A3A4"/>
          </p15:clr>
        </p15:guide>
        <p15:guide id="3" pos="5504">
          <p15:clr>
            <a:srgbClr val="A4A3A4"/>
          </p15:clr>
        </p15:guide>
        <p15:guide id="4" pos="2880">
          <p15:clr>
            <a:srgbClr val="A4A3A4"/>
          </p15:clr>
        </p15:guide>
        <p15:guide id="5" pos="10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79BC"/>
    <a:srgbClr val="00446C"/>
    <a:srgbClr val="388EC7"/>
    <a:srgbClr val="054586"/>
    <a:srgbClr val="0D6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 showGuides="1">
      <p:cViewPr varScale="1">
        <p:scale>
          <a:sx n="109" d="100"/>
          <a:sy n="109" d="100"/>
        </p:scale>
        <p:origin x="734" y="86"/>
      </p:cViewPr>
      <p:guideLst>
        <p:guide orient="horz" pos="257"/>
        <p:guide orient="horz" pos="1620"/>
        <p:guide pos="5504"/>
        <p:guide pos="2880"/>
        <p:guide pos="10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9DEEC-DE7E-CD44-AF7C-218B86874FF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FB765-8FD2-684F-9F48-543BB2C45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7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89BAF-6959-3046-B943-FEE51985CEF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9760D-F85B-C647-ABC5-35EE68EC7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05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0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34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69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09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57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54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08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90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55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55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9760D-F85B-C647-ABC5-35EE68EC79C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59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9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73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91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2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58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1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2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0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4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5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AD0-CEE0-234F-8740-2B05DEBC4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99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CED60-378B-9D4F-A5CD-C3E0ED5FA88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93403" y="20597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D62B2"/>
                </a:solidFill>
              </a:defRPr>
            </a:lvl1pPr>
          </a:lstStyle>
          <a:p>
            <a:fld id="{897B1AD0-CEE0-234F-8740-2B05DEBC40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53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lob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65" t="20120"/>
          <a:stretch/>
        </p:blipFill>
        <p:spPr>
          <a:xfrm>
            <a:off x="0" y="0"/>
            <a:ext cx="5416434" cy="4108626"/>
          </a:xfrm>
          <a:prstGeom prst="rect">
            <a:avLst/>
          </a:prstGeom>
        </p:spPr>
      </p:pic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3137"/>
            <a:ext cx="9144000" cy="2900363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217205" y="2551213"/>
            <a:ext cx="5976036" cy="9467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изменения стоимости криптовалют на основе сообщений участников рынка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456878" y="3518492"/>
            <a:ext cx="4994797" cy="11506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2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5" y="2931623"/>
            <a:ext cx="2854712" cy="5209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701264-CF19-FB19-E9E9-6E1B2F5745FB}"/>
              </a:ext>
            </a:extLst>
          </p:cNvPr>
          <p:cNvSpPr txBox="1"/>
          <p:nvPr/>
        </p:nvSpPr>
        <p:spPr>
          <a:xfrm>
            <a:off x="2364058" y="143622"/>
            <a:ext cx="6988098" cy="29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300" i="1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РОССИЙСКИЙ УНИВЕРСИТЕТ ДРУЖБЫ НАРОДОВ</a:t>
            </a:r>
            <a:r>
              <a:rPr lang="en-US" sz="1300" i="1" dirty="0">
                <a:solidFill>
                  <a:srgbClr val="1D79BC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i="1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ИМЕНИ ПАТРИСА ЛУМУМБЫ</a:t>
            </a:r>
            <a:endParaRPr lang="en-US" sz="1300" i="1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201E2-8618-1C00-3853-72C53A17ABC5}"/>
              </a:ext>
            </a:extLst>
          </p:cNvPr>
          <p:cNvSpPr txBox="1"/>
          <p:nvPr/>
        </p:nvSpPr>
        <p:spPr>
          <a:xfrm>
            <a:off x="3697124" y="378969"/>
            <a:ext cx="4764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solidFill>
                  <a:srgbClr val="1D79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физико-математических и естественных наук</a:t>
            </a:r>
            <a:endParaRPr lang="en-US" sz="1400" i="1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D03B9-7836-656D-2C1D-0E94051801B5}"/>
              </a:ext>
            </a:extLst>
          </p:cNvPr>
          <p:cNvSpPr txBox="1"/>
          <p:nvPr/>
        </p:nvSpPr>
        <p:spPr>
          <a:xfrm>
            <a:off x="3134587" y="638965"/>
            <a:ext cx="5890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Кафедра математического моделирования и искусственного интеллекта</a:t>
            </a:r>
            <a:endParaRPr lang="en-US" sz="1400" dirty="0">
              <a:solidFill>
                <a:srgbClr val="1D79BC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0631C3-D99B-1CB4-CEDE-DC65938B60DB}"/>
              </a:ext>
            </a:extLst>
          </p:cNvPr>
          <p:cNvSpPr txBox="1"/>
          <p:nvPr/>
        </p:nvSpPr>
        <p:spPr>
          <a:xfrm>
            <a:off x="3963060" y="919225"/>
            <a:ext cx="4233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>
                <a:solidFill>
                  <a:srgbClr val="1D79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Направление: 02.03.02 «Фундаментальная информатика и информационные технологии»</a:t>
            </a:r>
            <a:endParaRPr lang="en-US" sz="1400" i="1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759E5-F803-9C0F-DB8C-B29E5D3A7E3E}"/>
              </a:ext>
            </a:extLst>
          </p:cNvPr>
          <p:cNvSpPr txBox="1"/>
          <p:nvPr/>
        </p:nvSpPr>
        <p:spPr>
          <a:xfrm>
            <a:off x="3217206" y="3371264"/>
            <a:ext cx="58074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бакалавра</a:t>
            </a:r>
          </a:p>
          <a:p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Мугари Абдеррахим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НФИбд-01-22</a:t>
            </a:r>
          </a:p>
          <a:p>
            <a:r>
              <a:rPr lang="ru-RU" sz="16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к.т.н., доцент Молодченков А. И.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3CF3DC-0159-812B-1EDA-48A6E276433E}"/>
              </a:ext>
            </a:extLst>
          </p:cNvPr>
          <p:cNvSpPr txBox="1"/>
          <p:nvPr/>
        </p:nvSpPr>
        <p:spPr>
          <a:xfrm>
            <a:off x="3719261" y="1172739"/>
            <a:ext cx="4720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i="1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71F38A-E0D7-ED63-1820-46498786674D}"/>
              </a:ext>
            </a:extLst>
          </p:cNvPr>
          <p:cNvSpPr txBox="1"/>
          <p:nvPr/>
        </p:nvSpPr>
        <p:spPr>
          <a:xfrm>
            <a:off x="3217205" y="4561547"/>
            <a:ext cx="1491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23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842" y="270831"/>
            <a:ext cx="7237263" cy="641907"/>
          </a:xfrm>
        </p:spPr>
        <p:txBody>
          <a:bodyPr>
            <a:noAutofit/>
          </a:bodyPr>
          <a:lstStyle/>
          <a:p>
            <a:br>
              <a:rPr lang="en-US" sz="18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исследования</a:t>
            </a:r>
            <a:br>
              <a:rPr lang="ru-RU" sz="18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b="1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9141" y="4526253"/>
            <a:ext cx="253010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2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EBC44-5A32-29EB-8C80-D547B1191F1D}"/>
              </a:ext>
            </a:extLst>
          </p:cNvPr>
          <p:cNvSpPr/>
          <p:nvPr/>
        </p:nvSpPr>
        <p:spPr>
          <a:xfrm>
            <a:off x="776116" y="912738"/>
            <a:ext cx="7136780" cy="2523767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FD6029-5287-2E8E-EF81-944F5FABB024}"/>
              </a:ext>
            </a:extLst>
          </p:cNvPr>
          <p:cNvSpPr/>
          <p:nvPr/>
        </p:nvSpPr>
        <p:spPr>
          <a:xfrm>
            <a:off x="820720" y="912738"/>
            <a:ext cx="7136781" cy="252376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C8BFE-1972-E509-DACE-AB2034964FF6}"/>
              </a:ext>
            </a:extLst>
          </p:cNvPr>
          <p:cNvSpPr txBox="1"/>
          <p:nvPr/>
        </p:nvSpPr>
        <p:spPr>
          <a:xfrm>
            <a:off x="1041206" y="902100"/>
            <a:ext cx="668453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Segoe UI" panose="020B0502040204020203" pitchFamily="34" charset="0"/>
              </a:rPr>
              <a:t>Почему тональность Twitter и криптовалюты?</a:t>
            </a:r>
          </a:p>
          <a:p>
            <a:pPr algn="just"/>
            <a:endParaRPr lang="ru-RU" sz="1400" b="1" i="0" dirty="0">
              <a:solidFill>
                <a:srgbClr val="2980B9"/>
              </a:solidFill>
              <a:effectLst/>
              <a:latin typeface="Segoe UI" panose="020B0502040204020203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Криптовалютный рынок: высокая волатильность, круглосуточная торговля, сильная зависимость от информационного фона социальных медиа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Twitter (X) — ключевая площадка обсуждения; отдельные публикации вызывают статистически значимые ценовые сдвиги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Большинство работ используют лишь один метод анализа тональности и одну криптовалюту (как правило, Bitcoin)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Открытый вопрос: является ли связь «тональность → цена» универсальным свойством рынка или специфична для конкретного актива?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11DCEC-51B0-2BBC-2FCD-BE6CF603BE90}"/>
              </a:ext>
            </a:extLst>
          </p:cNvPr>
          <p:cNvSpPr txBox="1"/>
          <p:nvPr/>
        </p:nvSpPr>
        <p:spPr>
          <a:xfrm>
            <a:off x="947628" y="3579756"/>
            <a:ext cx="68716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«Агрегированная тональность сообщений в Twitter — перспективный, но методологически неоднозначный индикатор динамики цифровых активов»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79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5827" y="342875"/>
            <a:ext cx="7237263" cy="569863"/>
          </a:xfrm>
        </p:spPr>
        <p:txBody>
          <a:bodyPr>
            <a:noAutofit/>
          </a:bodyPr>
          <a:lstStyle/>
          <a:p>
            <a:r>
              <a:rPr lang="ru-RU" sz="18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  <a:endParaRPr lang="en-US" sz="1800" b="1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9141" y="4526253"/>
            <a:ext cx="253010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3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01DD070-7839-D736-FE57-7875DCABB2C6}"/>
              </a:ext>
            </a:extLst>
          </p:cNvPr>
          <p:cNvSpPr txBox="1"/>
          <p:nvPr/>
        </p:nvSpPr>
        <p:spPr>
          <a:xfrm>
            <a:off x="662674" y="969324"/>
            <a:ext cx="35376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цель</a:t>
            </a:r>
          </a:p>
          <a:p>
            <a:pPr algn="just"/>
            <a:r>
              <a:rPr lang="ru-RU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взаимосвязь тональности сообщений участников рынка в Twitter и динамики стоимости Bitcoin, Ethereum и Binance Coin с применением лексиконного (VADER) и трансформерного (FinBERT) подходов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F00109-18FA-70A1-D66E-5DC3F87C093F}"/>
              </a:ext>
            </a:extLst>
          </p:cNvPr>
          <p:cNvSpPr txBox="1"/>
          <p:nvPr/>
        </p:nvSpPr>
        <p:spPr>
          <a:xfrm>
            <a:off x="4572000" y="973924"/>
            <a:ext cx="375424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solidFill>
                  <a:srgbClr val="1D79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Ожидаемые результаты</a:t>
            </a:r>
            <a:endParaRPr lang="en-US" sz="1400" b="1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Оценка чувствительности выводов к выбору метода тональности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Кросс-активное сопоставление трёх криптовалют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Оценка предсказательной способности тональности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Воспроизводимый программный комплекс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660042-5EC8-CBCC-6800-1686B48594A4}"/>
              </a:ext>
            </a:extLst>
          </p:cNvPr>
          <p:cNvSpPr txBox="1"/>
          <p:nvPr/>
        </p:nvSpPr>
        <p:spPr>
          <a:xfrm>
            <a:off x="662674" y="2368293"/>
            <a:ext cx="35376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Обзор методов анализа тональности и влияния соцсетей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Реализовать модульный программный комплекс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Провести эксперимент и анализ по BTC, ETH, BNB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Сравнить VADER и FinBERT; оценить прогноз доходности</a:t>
            </a:r>
          </a:p>
        </p:txBody>
      </p:sp>
    </p:spTree>
    <p:extLst>
      <p:ext uri="{BB962C8B-B14F-4D97-AF65-F5344CB8AC3E}">
        <p14:creationId xmlns:p14="http://schemas.microsoft.com/office/powerpoint/2010/main" val="370899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9141" y="4526253"/>
            <a:ext cx="253010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4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1379129B-63D6-3242-71E5-1542CE6D2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7500" y="211151"/>
            <a:ext cx="3428999" cy="440040"/>
          </a:xfrm>
        </p:spPr>
        <p:txBody>
          <a:bodyPr>
            <a:normAutofit/>
          </a:bodyPr>
          <a:lstStyle/>
          <a:p>
            <a:r>
              <a:rPr lang="ru-RU" sz="18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исследования</a:t>
            </a:r>
            <a:endParaRPr lang="en-US" sz="1800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C3A47B-F208-C5BE-6531-987696433738}"/>
              </a:ext>
            </a:extLst>
          </p:cNvPr>
          <p:cNvSpPr/>
          <p:nvPr/>
        </p:nvSpPr>
        <p:spPr>
          <a:xfrm>
            <a:off x="246742" y="732971"/>
            <a:ext cx="2481944" cy="2431142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6385DC-EAE9-2434-B4F8-A7B2CF9EEA8C}"/>
              </a:ext>
            </a:extLst>
          </p:cNvPr>
          <p:cNvSpPr/>
          <p:nvPr/>
        </p:nvSpPr>
        <p:spPr>
          <a:xfrm>
            <a:off x="6415315" y="732971"/>
            <a:ext cx="2481944" cy="2431142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AE92BC-AEF8-3F1F-F460-5F5FE369EC71}"/>
              </a:ext>
            </a:extLst>
          </p:cNvPr>
          <p:cNvSpPr/>
          <p:nvPr/>
        </p:nvSpPr>
        <p:spPr>
          <a:xfrm>
            <a:off x="3331026" y="732971"/>
            <a:ext cx="2481945" cy="2431142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BFFDA-ACF8-B1AA-B4FC-525C329A2093}"/>
              </a:ext>
            </a:extLst>
          </p:cNvPr>
          <p:cNvSpPr/>
          <p:nvPr/>
        </p:nvSpPr>
        <p:spPr>
          <a:xfrm>
            <a:off x="246741" y="783772"/>
            <a:ext cx="2481945" cy="238034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001ADF-18EF-47BC-5BA5-F32A44614A5B}"/>
              </a:ext>
            </a:extLst>
          </p:cNvPr>
          <p:cNvSpPr/>
          <p:nvPr/>
        </p:nvSpPr>
        <p:spPr>
          <a:xfrm>
            <a:off x="6415315" y="783772"/>
            <a:ext cx="2481944" cy="238034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E4DD5A-C9D6-F86E-EB28-6AEFEEE06663}"/>
              </a:ext>
            </a:extLst>
          </p:cNvPr>
          <p:cNvSpPr/>
          <p:nvPr/>
        </p:nvSpPr>
        <p:spPr>
          <a:xfrm>
            <a:off x="3331026" y="783772"/>
            <a:ext cx="2481945" cy="238034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2B9462-1104-5A71-DB97-6B94C27AB9F6}"/>
              </a:ext>
            </a:extLst>
          </p:cNvPr>
          <p:cNvSpPr/>
          <p:nvPr/>
        </p:nvSpPr>
        <p:spPr>
          <a:xfrm>
            <a:off x="662673" y="3265714"/>
            <a:ext cx="7995098" cy="1114638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77353-1BFB-F5EA-3646-E73443AFA957}"/>
              </a:ext>
            </a:extLst>
          </p:cNvPr>
          <p:cNvSpPr/>
          <p:nvPr/>
        </p:nvSpPr>
        <p:spPr>
          <a:xfrm>
            <a:off x="742502" y="3265714"/>
            <a:ext cx="7915269" cy="111463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08A9E1-3A23-8D4F-E241-048110B87A00}"/>
              </a:ext>
            </a:extLst>
          </p:cNvPr>
          <p:cNvSpPr txBox="1"/>
          <p:nvPr/>
        </p:nvSpPr>
        <p:spPr>
          <a:xfrm>
            <a:off x="282141" y="783772"/>
            <a:ext cx="24107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Bitcoin (BTC)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321 627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сообщений</a:t>
            </a:r>
            <a:endParaRPr lang="ru-RU" sz="14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Цифровое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золото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»,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первая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криптовалюта</a:t>
            </a:r>
            <a:endParaRPr lang="en-US" sz="14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Цена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$19,6 – 24,4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тыс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тональность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VADER: 0,17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3184AF-CC6F-FC51-B902-F434AE5D7042}"/>
              </a:ext>
            </a:extLst>
          </p:cNvPr>
          <p:cNvSpPr txBox="1"/>
          <p:nvPr/>
        </p:nvSpPr>
        <p:spPr>
          <a:xfrm>
            <a:off x="3383929" y="850557"/>
            <a:ext cx="24819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Ethereum (ETH)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306 738 сообщений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Платформа смарт-контрактов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Цена: $1,4 – 2,0 тыс.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Средняя тональность VADER: 0,20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E6632A-A6E0-CC9A-3CF7-5C225F513E1E}"/>
              </a:ext>
            </a:extLst>
          </p:cNvPr>
          <p:cNvSpPr txBox="1"/>
          <p:nvPr/>
        </p:nvSpPr>
        <p:spPr>
          <a:xfrm>
            <a:off x="6450713" y="819780"/>
            <a:ext cx="24111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Binance Coin (BNB)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75 171 сообщение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Utility-токен биржи Binance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Цена: $249 – 329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Средняя тональность VADER: 0,31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367" y="3552649"/>
            <a:ext cx="7680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333333"/>
                </a:solidFill>
                <a:latin typeface="Times New Roman"/>
              </a:rPr>
              <a:t>Всего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: 703 536 </a:t>
            </a:r>
            <a:r>
              <a:rPr sz="1300" b="1" dirty="0" err="1">
                <a:solidFill>
                  <a:srgbClr val="333333"/>
                </a:solidFill>
                <a:latin typeface="Times New Roman"/>
              </a:rPr>
              <a:t>англоязычных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1" dirty="0" err="1">
                <a:solidFill>
                  <a:srgbClr val="333333"/>
                </a:solidFill>
                <a:latin typeface="Times New Roman"/>
              </a:rPr>
              <a:t>сообщений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 Twitter </a:t>
            </a:r>
            <a:r>
              <a:rPr sz="1300" b="1" dirty="0" err="1">
                <a:solidFill>
                  <a:srgbClr val="333333"/>
                </a:solidFill>
                <a:latin typeface="Times New Roman"/>
              </a:rPr>
              <a:t>за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 26 </a:t>
            </a:r>
            <a:r>
              <a:rPr sz="1300" b="1" dirty="0" err="1">
                <a:solidFill>
                  <a:srgbClr val="333333"/>
                </a:solidFill>
                <a:latin typeface="Times New Roman"/>
              </a:rPr>
              <a:t>июля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 – 30 </a:t>
            </a:r>
            <a:r>
              <a:rPr sz="1300" b="1" dirty="0" err="1">
                <a:solidFill>
                  <a:srgbClr val="333333"/>
                </a:solidFill>
                <a:latin typeface="Times New Roman"/>
              </a:rPr>
              <a:t>августа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 2022 г. (36 </a:t>
            </a:r>
            <a:r>
              <a:rPr sz="1300" b="1" dirty="0" err="1">
                <a:solidFill>
                  <a:srgbClr val="333333"/>
                </a:solidFill>
                <a:latin typeface="Times New Roman"/>
              </a:rPr>
              <a:t>дней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).</a:t>
            </a:r>
          </a:p>
          <a:p>
            <a:pPr algn="ctr"/>
            <a:r>
              <a:rPr sz="1300" b="1" dirty="0" err="1">
                <a:solidFill>
                  <a:srgbClr val="333333"/>
                </a:solidFill>
                <a:latin typeface="Times New Roman"/>
              </a:rPr>
              <a:t>Цены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 — </a:t>
            </a:r>
            <a:r>
              <a:rPr sz="1300" b="1" dirty="0" err="1">
                <a:solidFill>
                  <a:srgbClr val="333333"/>
                </a:solidFill>
                <a:latin typeface="Times New Roman"/>
              </a:rPr>
              <a:t>минутные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1" dirty="0" err="1">
                <a:solidFill>
                  <a:srgbClr val="333333"/>
                </a:solidFill>
                <a:latin typeface="Times New Roman"/>
              </a:rPr>
              <a:t>данные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1" dirty="0" err="1">
                <a:solidFill>
                  <a:srgbClr val="333333"/>
                </a:solidFill>
                <a:latin typeface="Times New Roman"/>
              </a:rPr>
              <a:t>биржи</a:t>
            </a:r>
            <a:r>
              <a:rPr sz="1300" b="1" dirty="0">
                <a:solidFill>
                  <a:srgbClr val="333333"/>
                </a:solidFill>
                <a:latin typeface="Times New Roman"/>
              </a:rPr>
              <a:t> Binance.</a:t>
            </a:r>
          </a:p>
        </p:txBody>
      </p:sp>
    </p:spTree>
    <p:extLst>
      <p:ext uri="{BB962C8B-B14F-4D97-AF65-F5344CB8AC3E}">
        <p14:creationId xmlns:p14="http://schemas.microsoft.com/office/powerpoint/2010/main" val="359938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9141" y="4526253"/>
            <a:ext cx="253010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5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1379129B-63D6-3242-71E5-1542CE6D2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5528" y="117363"/>
            <a:ext cx="4132943" cy="521266"/>
          </a:xfrm>
        </p:spPr>
        <p:txBody>
          <a:bodyPr>
            <a:normAutofit fontScale="90000"/>
          </a:bodyPr>
          <a:lstStyle/>
          <a:p>
            <a:r>
              <a:rPr lang="ru-RU" sz="20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и методология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E459F1-FDC3-C286-3ED4-960A10C751FC}"/>
              </a:ext>
            </a:extLst>
          </p:cNvPr>
          <p:cNvSpPr/>
          <p:nvPr/>
        </p:nvSpPr>
        <p:spPr>
          <a:xfrm>
            <a:off x="117137" y="718456"/>
            <a:ext cx="1821543" cy="1458679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D00849-84C4-EC23-889A-8F4457918C82}"/>
              </a:ext>
            </a:extLst>
          </p:cNvPr>
          <p:cNvSpPr/>
          <p:nvPr/>
        </p:nvSpPr>
        <p:spPr>
          <a:xfrm>
            <a:off x="2473157" y="718457"/>
            <a:ext cx="1821543" cy="1458679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4D27B6-8BFE-CEFE-C5D9-3DCBFA4E1152}"/>
              </a:ext>
            </a:extLst>
          </p:cNvPr>
          <p:cNvSpPr/>
          <p:nvPr/>
        </p:nvSpPr>
        <p:spPr>
          <a:xfrm>
            <a:off x="4829177" y="718457"/>
            <a:ext cx="1821543" cy="1458679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CA5ADA-5BB3-015F-A8FB-4996D6369F33}"/>
              </a:ext>
            </a:extLst>
          </p:cNvPr>
          <p:cNvSpPr/>
          <p:nvPr/>
        </p:nvSpPr>
        <p:spPr>
          <a:xfrm>
            <a:off x="7185197" y="718457"/>
            <a:ext cx="1821543" cy="1458679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E37F9A-C083-2E09-53ED-8B7DF1791F6C}"/>
              </a:ext>
            </a:extLst>
          </p:cNvPr>
          <p:cNvSpPr/>
          <p:nvPr/>
        </p:nvSpPr>
        <p:spPr>
          <a:xfrm>
            <a:off x="117136" y="759987"/>
            <a:ext cx="1821543" cy="141714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4EFCEF-38F8-0E82-E575-A88FD5CFD44C}"/>
              </a:ext>
            </a:extLst>
          </p:cNvPr>
          <p:cNvSpPr/>
          <p:nvPr/>
        </p:nvSpPr>
        <p:spPr>
          <a:xfrm>
            <a:off x="7185196" y="759988"/>
            <a:ext cx="1821543" cy="141714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8D05BA-4953-12FD-985B-4B3EBB9E7990}"/>
              </a:ext>
            </a:extLst>
          </p:cNvPr>
          <p:cNvSpPr/>
          <p:nvPr/>
        </p:nvSpPr>
        <p:spPr>
          <a:xfrm>
            <a:off x="4829176" y="759987"/>
            <a:ext cx="1821543" cy="141714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28B7DC-1E0A-2864-A4CD-755A464973A1}"/>
              </a:ext>
            </a:extLst>
          </p:cNvPr>
          <p:cNvSpPr/>
          <p:nvPr/>
        </p:nvSpPr>
        <p:spPr>
          <a:xfrm>
            <a:off x="2473156" y="759988"/>
            <a:ext cx="1821543" cy="141714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65B5C61-E7DE-D37E-0265-6782A79BC57F}"/>
              </a:ext>
            </a:extLst>
          </p:cNvPr>
          <p:cNvSpPr/>
          <p:nvPr/>
        </p:nvSpPr>
        <p:spPr>
          <a:xfrm>
            <a:off x="1938680" y="1378857"/>
            <a:ext cx="534475" cy="203197"/>
          </a:xfrm>
          <a:prstGeom prst="rightArrow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23647C7-D08C-4059-CC78-E9E3C7617170}"/>
              </a:ext>
            </a:extLst>
          </p:cNvPr>
          <p:cNvSpPr/>
          <p:nvPr/>
        </p:nvSpPr>
        <p:spPr>
          <a:xfrm>
            <a:off x="6638471" y="1366962"/>
            <a:ext cx="534475" cy="203197"/>
          </a:xfrm>
          <a:prstGeom prst="rightArrow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43C105F-1B0B-FB64-1C2C-B90FDAE661B8}"/>
              </a:ext>
            </a:extLst>
          </p:cNvPr>
          <p:cNvSpPr/>
          <p:nvPr/>
        </p:nvSpPr>
        <p:spPr>
          <a:xfrm>
            <a:off x="4291523" y="1378857"/>
            <a:ext cx="534475" cy="203197"/>
          </a:xfrm>
          <a:prstGeom prst="rightArrow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008525-B4A8-F48A-1ACE-623287CAC30E}"/>
              </a:ext>
            </a:extLst>
          </p:cNvPr>
          <p:cNvSpPr txBox="1"/>
          <p:nvPr/>
        </p:nvSpPr>
        <p:spPr>
          <a:xfrm>
            <a:off x="162123" y="751057"/>
            <a:ext cx="17315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Сбор данных</a:t>
            </a:r>
            <a:endParaRPr lang="en-US" sz="1400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Twitter и минутные цены Binance по трём криптовалютам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BD6C87-2519-BA60-C216-F479C7178D1A}"/>
              </a:ext>
            </a:extLst>
          </p:cNvPr>
          <p:cNvSpPr txBox="1"/>
          <p:nvPr/>
        </p:nvSpPr>
        <p:spPr>
          <a:xfrm>
            <a:off x="2440598" y="761367"/>
            <a:ext cx="188665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Предобработка</a:t>
            </a:r>
            <a:endParaRPr lang="en-US" sz="1400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Очистка текста; раздельная подача: оригинал → VADER, очищенный → FinBERT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9F24E1-248D-9C8A-2B18-571F1D14464B}"/>
              </a:ext>
            </a:extLst>
          </p:cNvPr>
          <p:cNvSpPr txBox="1"/>
          <p:nvPr/>
        </p:nvSpPr>
        <p:spPr>
          <a:xfrm>
            <a:off x="4816926" y="755297"/>
            <a:ext cx="17421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Анализ тональности</a:t>
            </a:r>
          </a:p>
          <a:p>
            <a:pPr algn="l"/>
            <a:r>
              <a:rPr lang="ru-RU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VADER (лексиконный) и FinBERT (трансформер, ≈110 млн параметров)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589D7E-5979-89A0-E178-E575A9508316}"/>
              </a:ext>
            </a:extLst>
          </p:cNvPr>
          <p:cNvSpPr txBox="1"/>
          <p:nvPr/>
        </p:nvSpPr>
        <p:spPr>
          <a:xfrm>
            <a:off x="7171598" y="782186"/>
            <a:ext cx="18487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Статистический анализ</a:t>
            </a:r>
          </a:p>
          <a:p>
            <a:pPr algn="l"/>
            <a:r>
              <a:rPr lang="ru-RU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Корреляции, тест Грейнджера, мощность, прогнозирование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8AF152-C27D-88B2-A859-4AD4533E97DC}"/>
              </a:ext>
            </a:extLst>
          </p:cNvPr>
          <p:cNvSpPr txBox="1"/>
          <p:nvPr/>
        </p:nvSpPr>
        <p:spPr>
          <a:xfrm>
            <a:off x="296018" y="2271131"/>
            <a:ext cx="41743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стек и качество</a:t>
            </a:r>
            <a:endParaRPr lang="en-US" sz="1400" b="1" i="0" dirty="0">
              <a:solidFill>
                <a:srgbClr val="2980B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400" b="1" i="0" dirty="0">
              <a:solidFill>
                <a:srgbClr val="2980B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1400" b="1" i="0" dirty="0">
              <a:solidFill>
                <a:srgbClr val="2980B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Python: pandas, scikit-learn, statsmodels, transformers, vaderSentiment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Конвейер из 12 последовательных шагов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354 автоматизированных теста, CI/CD (GitHub Actions)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Поддержка Python 3.10 / 3.11 / 3.12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A83C29-DE7C-B444-911D-E310B2CF68B0}"/>
              </a:ext>
            </a:extLst>
          </p:cNvPr>
          <p:cNvSpPr txBox="1"/>
          <p:nvPr/>
        </p:nvSpPr>
        <p:spPr>
          <a:xfrm>
            <a:off x="6195171" y="2268322"/>
            <a:ext cx="241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Статистические методы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2724912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333333"/>
                </a:solidFill>
                <a:latin typeface="Times New Roman"/>
              </a:rPr>
              <a:t>•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Корреляции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Пирсона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и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Спирмена</a:t>
            </a:r>
            <a:endParaRPr sz="1300" b="0" dirty="0">
              <a:solidFill>
                <a:srgbClr val="333333"/>
              </a:solidFill>
              <a:latin typeface="Times New Roman"/>
            </a:endParaRPr>
          </a:p>
          <a:p>
            <a:pPr algn="l"/>
            <a:r>
              <a:rPr sz="1300" b="0" dirty="0">
                <a:solidFill>
                  <a:srgbClr val="333333"/>
                </a:solidFill>
                <a:latin typeface="Times New Roman"/>
              </a:rPr>
              <a:t>•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Тест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причинности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Грейнджера</a:t>
            </a:r>
            <a:endParaRPr sz="1300" b="0" dirty="0">
              <a:solidFill>
                <a:srgbClr val="333333"/>
              </a:solidFill>
              <a:latin typeface="Times New Roman"/>
            </a:endParaRPr>
          </a:p>
          <a:p>
            <a:pPr algn="l"/>
            <a:r>
              <a:rPr sz="1300" b="0" dirty="0">
                <a:solidFill>
                  <a:srgbClr val="333333"/>
                </a:solidFill>
                <a:latin typeface="Times New Roman"/>
              </a:rPr>
              <a:t>•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Тест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стационарности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Дики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–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Фуллера</a:t>
            </a:r>
            <a:endParaRPr sz="1300" b="0" dirty="0">
              <a:solidFill>
                <a:srgbClr val="333333"/>
              </a:solidFill>
              <a:latin typeface="Times New Roman"/>
            </a:endParaRPr>
          </a:p>
          <a:p>
            <a:pPr algn="l"/>
            <a:r>
              <a:rPr sz="1300" b="0" dirty="0">
                <a:solidFill>
                  <a:srgbClr val="333333"/>
                </a:solidFill>
                <a:latin typeface="Times New Roman"/>
              </a:rPr>
              <a:t>•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Логистическая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регрессия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и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бустинг</a:t>
            </a:r>
            <a:endParaRPr sz="1300" b="0" dirty="0">
              <a:solidFill>
                <a:srgbClr val="333333"/>
              </a:solidFill>
              <a:latin typeface="Times New Roman"/>
            </a:endParaRPr>
          </a:p>
          <a:p>
            <a:pPr algn="l"/>
            <a:r>
              <a:rPr sz="1300" b="0" dirty="0">
                <a:solidFill>
                  <a:srgbClr val="333333"/>
                </a:solidFill>
                <a:latin typeface="Times New Roman"/>
              </a:rPr>
              <a:t>•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Апостериорный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анализ</a:t>
            </a:r>
            <a:r>
              <a:rPr sz="1300" b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Times New Roman"/>
              </a:rPr>
              <a:t>мощности</a:t>
            </a:r>
            <a:endParaRPr sz="1300" b="0" dirty="0">
              <a:solidFill>
                <a:srgbClr val="333333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376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9141" y="4526253"/>
            <a:ext cx="253010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6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1379129B-63D6-3242-71E5-1542CE6D2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9043" y="8506"/>
            <a:ext cx="4865914" cy="564810"/>
          </a:xfrm>
        </p:spPr>
        <p:txBody>
          <a:bodyPr>
            <a:normAutofit/>
          </a:bodyPr>
          <a:lstStyle/>
          <a:p>
            <a:r>
              <a:rPr lang="ru-RU" sz="18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 тональность и доходность</a:t>
            </a:r>
            <a:endParaRPr lang="en-US" sz="1800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5C7DBD-1CD4-2168-9244-1AE1479DC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415900"/>
              </p:ext>
            </p:extLst>
          </p:nvPr>
        </p:nvGraphicFramePr>
        <p:xfrm>
          <a:off x="582827" y="539750"/>
          <a:ext cx="8031402" cy="151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422">
                  <a:extLst>
                    <a:ext uri="{9D8B030D-6E8A-4147-A177-3AD203B41FA5}">
                      <a16:colId xmlns:a16="http://schemas.microsoft.com/office/drawing/2014/main" val="3599937990"/>
                    </a:ext>
                  </a:extLst>
                </a:gridCol>
                <a:gridCol w="1566237">
                  <a:extLst>
                    <a:ext uri="{9D8B030D-6E8A-4147-A177-3AD203B41FA5}">
                      <a16:colId xmlns:a16="http://schemas.microsoft.com/office/drawing/2014/main" val="3714585240"/>
                    </a:ext>
                  </a:extLst>
                </a:gridCol>
                <a:gridCol w="616857">
                  <a:extLst>
                    <a:ext uri="{9D8B030D-6E8A-4147-A177-3AD203B41FA5}">
                      <a16:colId xmlns:a16="http://schemas.microsoft.com/office/drawing/2014/main" val="837173086"/>
                    </a:ext>
                  </a:extLst>
                </a:gridCol>
                <a:gridCol w="1095828">
                  <a:extLst>
                    <a:ext uri="{9D8B030D-6E8A-4147-A177-3AD203B41FA5}">
                      <a16:colId xmlns:a16="http://schemas.microsoft.com/office/drawing/2014/main" val="2321793106"/>
                    </a:ext>
                  </a:extLst>
                </a:gridCol>
                <a:gridCol w="1299029">
                  <a:extLst>
                    <a:ext uri="{9D8B030D-6E8A-4147-A177-3AD203B41FA5}">
                      <a16:colId xmlns:a16="http://schemas.microsoft.com/office/drawing/2014/main" val="2250168762"/>
                    </a:ext>
                  </a:extLst>
                </a:gridCol>
                <a:gridCol w="1807029">
                  <a:extLst>
                    <a:ext uri="{9D8B030D-6E8A-4147-A177-3AD203B41FA5}">
                      <a16:colId xmlns:a16="http://schemas.microsoft.com/office/drawing/2014/main" val="108988274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ru-RU" sz="13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Криптовалюта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lang="ru-RU" sz="13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Сообщений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lang="ru-RU" sz="13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 (лаг 0)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lang="ru-RU" sz="13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lang="ru-RU" sz="13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Мощность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lang="ru-RU" sz="13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Значимость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/>
                </a:tc>
                <a:extLst>
                  <a:ext uri="{0D108BD9-81ED-4DB2-BD59-A6C34878D82A}">
                    <a16:rowId xmlns:a16="http://schemas.microsoft.com/office/drawing/2014/main" val="10251859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Bitcoin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321 627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0,218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0,208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24,7 %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значимо</a:t>
                      </a: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27037861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Ethereum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306 738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0,259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0,133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33,1 %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значимо</a:t>
                      </a: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36302675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Binance Coin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75 171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0,044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0,803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5,7 %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значимо</a:t>
                      </a: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257450763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785279B-99C4-ED90-8249-87A5E2E0B0AC}"/>
              </a:ext>
            </a:extLst>
          </p:cNvPr>
          <p:cNvSpPr/>
          <p:nvPr/>
        </p:nvSpPr>
        <p:spPr>
          <a:xfrm>
            <a:off x="582827" y="2449782"/>
            <a:ext cx="8031402" cy="1828782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FEC0A1-C77D-A8E5-8F97-99F51A4C3316}"/>
              </a:ext>
            </a:extLst>
          </p:cNvPr>
          <p:cNvSpPr/>
          <p:nvPr/>
        </p:nvSpPr>
        <p:spPr>
          <a:xfrm>
            <a:off x="662673" y="2449782"/>
            <a:ext cx="7951556" cy="1828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6392CF-2A34-7BC3-A55A-D20739A1967B}"/>
              </a:ext>
            </a:extLst>
          </p:cNvPr>
          <p:cNvSpPr txBox="1"/>
          <p:nvPr/>
        </p:nvSpPr>
        <p:spPr>
          <a:xfrm>
            <a:off x="846584" y="2779579"/>
            <a:ext cx="7791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 algn="just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Bitcoin и Ethereum: умеренная положительная корреляция (r ≈ 0,22 – 0,26)</a:t>
            </a:r>
          </a:p>
          <a:p>
            <a:pPr marL="115888" indent="-115888" algn="just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Binance Coin: корреляция близка к нулю (r ≈ 0,04) — отдельный кластер</a:t>
            </a:r>
          </a:p>
          <a:p>
            <a:pPr marL="115888" indent="-115888" algn="just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Ни одно значение не достигло значимости при α = 0,05</a:t>
            </a:r>
          </a:p>
          <a:p>
            <a:pPr marL="115888" indent="-115888" algn="just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Лагированные корреляции (0–7 дней) также не значимы</a:t>
            </a:r>
          </a:p>
          <a:p>
            <a:pPr marL="115888" indent="-115888" algn="just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Контраст BNB объясняется ролью utility-токена и аудиторией Binance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D784D-E32B-68B4-0855-10D8EF3E983D}"/>
              </a:ext>
            </a:extLst>
          </p:cNvPr>
          <p:cNvSpPr txBox="1"/>
          <p:nvPr/>
        </p:nvSpPr>
        <p:spPr>
          <a:xfrm>
            <a:off x="2383971" y="2467610"/>
            <a:ext cx="4376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наблюдения</a:t>
            </a:r>
          </a:p>
        </p:txBody>
      </p:sp>
    </p:spTree>
    <p:extLst>
      <p:ext uri="{BB962C8B-B14F-4D97-AF65-F5344CB8AC3E}">
        <p14:creationId xmlns:p14="http://schemas.microsoft.com/office/powerpoint/2010/main" val="383691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9141" y="4554477"/>
            <a:ext cx="253010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7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1379129B-63D6-3242-71E5-1542CE6D2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100" y="58511"/>
            <a:ext cx="3733800" cy="455952"/>
          </a:xfrm>
        </p:spPr>
        <p:txBody>
          <a:bodyPr>
            <a:normAutofit fontScale="90000"/>
          </a:bodyPr>
          <a:lstStyle/>
          <a:p>
            <a:r>
              <a:rPr lang="ru-RU" sz="18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Предсказательная способность тональности</a:t>
            </a:r>
            <a:endParaRPr lang="en-US" sz="1800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2B14F9-7269-8DCB-E7BC-F3E800DF9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40433"/>
              </p:ext>
            </p:extLst>
          </p:nvPr>
        </p:nvGraphicFramePr>
        <p:xfrm>
          <a:off x="170544" y="537794"/>
          <a:ext cx="880291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775">
                  <a:extLst>
                    <a:ext uri="{9D8B030D-6E8A-4147-A177-3AD203B41FA5}">
                      <a16:colId xmlns:a16="http://schemas.microsoft.com/office/drawing/2014/main" val="3391392527"/>
                    </a:ext>
                  </a:extLst>
                </a:gridCol>
                <a:gridCol w="1801402">
                  <a:extLst>
                    <a:ext uri="{9D8B030D-6E8A-4147-A177-3AD203B41FA5}">
                      <a16:colId xmlns:a16="http://schemas.microsoft.com/office/drawing/2014/main" val="744244427"/>
                    </a:ext>
                  </a:extLst>
                </a:gridCol>
                <a:gridCol w="2971007">
                  <a:extLst>
                    <a:ext uri="{9D8B030D-6E8A-4147-A177-3AD203B41FA5}">
                      <a16:colId xmlns:a16="http://schemas.microsoft.com/office/drawing/2014/main" val="701563195"/>
                    </a:ext>
                  </a:extLst>
                </a:gridCol>
                <a:gridCol w="2200728">
                  <a:extLst>
                    <a:ext uri="{9D8B030D-6E8A-4147-A177-3AD203B41FA5}">
                      <a16:colId xmlns:a16="http://schemas.microsoft.com/office/drawing/2014/main" val="32859910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ru-RU" sz="1300" b="1" dirty="0">
                          <a:solidFill>
                            <a:srgbClr val="FFFFFF"/>
                          </a:solidFill>
                          <a:effectLst/>
                        </a:rPr>
                        <a:t>Метод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effectLst/>
                        </a:rPr>
                        <a:t>Accuracy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effectLst/>
                        </a:rPr>
                        <a:t>ROC-AUC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1">
                          <a:solidFill>
                            <a:srgbClr val="FFFFFF"/>
                          </a:solidFill>
                          <a:effectLst/>
                        </a:rPr>
                        <a:t>Лучше baseline?</a:t>
                      </a: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33728162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effectLst/>
                        </a:rPr>
                        <a:t>Baseline (Dummy)</a:t>
                      </a:r>
                      <a:endParaRPr lang="en-US">
                        <a:effectLst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0,563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—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—</a:t>
                      </a: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28872585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effectLst/>
                        </a:rPr>
                        <a:t>Логистич. регрессия</a:t>
                      </a:r>
                      <a:endParaRPr lang="en-US">
                        <a:effectLst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0,538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0,362</a:t>
                      </a: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Нет</a:t>
                      </a: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27616642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effectLst/>
                        </a:rPr>
                        <a:t>Градиентный бустинг</a:t>
                      </a:r>
                      <a:endParaRPr lang="en-US">
                        <a:effectLst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effectLst/>
                        </a:rPr>
                        <a:t>0,425</a:t>
                      </a:r>
                      <a:endParaRPr lang="en-US">
                        <a:effectLst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effectLst/>
                        </a:rPr>
                        <a:t>0,400</a:t>
                      </a:r>
                      <a:endParaRPr lang="en-US">
                        <a:effectLst/>
                      </a:endParaRPr>
                    </a:p>
                  </a:txBody>
                  <a:tcPr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Нет</a:t>
                      </a:r>
                    </a:p>
                  </a:txBody>
                  <a:tcPr marT="12700" marB="12700" anchor="ctr"/>
                </a:tc>
                <a:extLst>
                  <a:ext uri="{0D108BD9-81ED-4DB2-BD59-A6C34878D82A}">
                    <a16:rowId xmlns:a16="http://schemas.microsoft.com/office/drawing/2014/main" val="414782951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9C69F16-6A65-269D-B50A-EC36C6E0DCDD}"/>
              </a:ext>
            </a:extLst>
          </p:cNvPr>
          <p:cNvSpPr txBox="1"/>
          <p:nvPr/>
        </p:nvSpPr>
        <p:spPr>
          <a:xfrm>
            <a:off x="277191" y="2410851"/>
            <a:ext cx="43952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 Грейнджера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Причинность не выявлена ни для одной криптовалюты</a:t>
            </a:r>
          </a:p>
          <a:p>
            <a:pPr algn="l">
              <a:buFont typeface="+mj-lt"/>
              <a:buAutoNum type="arabicPeriod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Мин. p: BTC 0,610, ETH 0,321, BNB 0,211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9F042D-27AF-A859-B827-0F01B7F43D4C}"/>
              </a:ext>
            </a:extLst>
          </p:cNvPr>
          <p:cNvSpPr txBox="1"/>
          <p:nvPr/>
        </p:nvSpPr>
        <p:spPr>
          <a:xfrm>
            <a:off x="228716" y="3399096"/>
            <a:ext cx="4492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дифференцированных рядах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Результат подтверждён после устранения нестационарности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Мин. p ≥ 0,233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2BE2AA-1D26-8A12-EF92-7ED05B070FD9}"/>
              </a:ext>
            </a:extLst>
          </p:cNvPr>
          <p:cNvSpPr txBox="1"/>
          <p:nvPr/>
        </p:nvSpPr>
        <p:spPr>
          <a:xfrm>
            <a:off x="5087686" y="2404429"/>
            <a:ext cx="36723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статистической мощности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 n = 36 мощность лишь 24,7 % (BTC) и 33,1 % (ETH)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Детектируемо только |r| ≥ 0,45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183D5A-29AB-C2BE-AA18-B31583E07F97}"/>
              </a:ext>
            </a:extLst>
          </p:cNvPr>
          <p:cNvSpPr txBox="1"/>
          <p:nvPr/>
        </p:nvSpPr>
        <p:spPr>
          <a:xfrm>
            <a:off x="4904052" y="3447051"/>
            <a:ext cx="40396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</a:p>
          <a:p>
            <a:pPr algn="l"/>
            <a:r>
              <a:rPr lang="ru-RU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Отрицательный результат обусловлен нехваткой мощности при коротком периоде, а не доказанным отсутствием эффекта</a:t>
            </a:r>
          </a:p>
        </p:txBody>
      </p:sp>
    </p:spTree>
    <p:extLst>
      <p:ext uri="{BB962C8B-B14F-4D97-AF65-F5344CB8AC3E}">
        <p14:creationId xmlns:p14="http://schemas.microsoft.com/office/powerpoint/2010/main" val="277603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77191" y="4526253"/>
            <a:ext cx="384284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8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B181121-798D-4911-EB10-9BE1B2FED8FF}"/>
              </a:ext>
            </a:extLst>
          </p:cNvPr>
          <p:cNvSpPr txBox="1"/>
          <p:nvPr/>
        </p:nvSpPr>
        <p:spPr>
          <a:xfrm>
            <a:off x="1180555" y="166731"/>
            <a:ext cx="67828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методов: VADER и FinBERT</a:t>
            </a:r>
            <a:endParaRPr lang="en-US" sz="1400" b="1" i="0" dirty="0">
              <a:solidFill>
                <a:srgbClr val="2980B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400" b="1" i="0" dirty="0">
              <a:solidFill>
                <a:srgbClr val="2980B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FinBERT относит 84–88 % сообщений к нейтральным (доменное смещение)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VADER даёт гранулярное распределение (31–37 % нейтральных)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Доля расхождений между методами — 58,0 % классификаций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Согласие методов устойчиво: 40–42 % по всем трём криптовалютам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59E2C4-AA83-5541-A127-EC1B918C0460}"/>
              </a:ext>
            </a:extLst>
          </p:cNvPr>
          <p:cNvSpPr txBox="1"/>
          <p:nvPr/>
        </p:nvSpPr>
        <p:spPr>
          <a:xfrm>
            <a:off x="1318441" y="3325053"/>
            <a:ext cx="65071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lang="en-US" sz="1400" b="1" i="0" dirty="0">
              <a:solidFill>
                <a:srgbClr val="2980B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400" b="1" i="0" dirty="0">
              <a:solidFill>
                <a:srgbClr val="2980B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дневного корреляционного анализа VADER информативнее: его агрегаты обладают большей дисперсией, чем почти константные средние FinBERT</a:t>
            </a:r>
          </a:p>
          <a:p>
            <a:pPr algn="l"/>
            <a:endParaRPr lang="ru-RU" sz="14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 descr="vader_vs_finbert_crosscryp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214" y="1603118"/>
            <a:ext cx="3679570" cy="167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1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77191" y="4526253"/>
            <a:ext cx="384284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9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13E291F-C0AA-4E63-3ADF-4A370A2C4829}"/>
              </a:ext>
            </a:extLst>
          </p:cNvPr>
          <p:cNvSpPr/>
          <p:nvPr/>
        </p:nvSpPr>
        <p:spPr>
          <a:xfrm>
            <a:off x="5000171" y="961878"/>
            <a:ext cx="3200400" cy="2136858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0509F3-A17A-7524-5BF5-434475E9407C}"/>
              </a:ext>
            </a:extLst>
          </p:cNvPr>
          <p:cNvSpPr/>
          <p:nvPr/>
        </p:nvSpPr>
        <p:spPr>
          <a:xfrm>
            <a:off x="5000171" y="1005297"/>
            <a:ext cx="3200400" cy="209343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0C308D-B857-0174-AF10-C9ED46E9814C}"/>
              </a:ext>
            </a:extLst>
          </p:cNvPr>
          <p:cNvSpPr txBox="1"/>
          <p:nvPr/>
        </p:nvSpPr>
        <p:spPr>
          <a:xfrm>
            <a:off x="5174341" y="1100925"/>
            <a:ext cx="28520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BTC</a:t>
            </a:r>
            <a:endParaRPr lang="en-US" sz="1400" b="1" i="0" dirty="0">
              <a:solidFill>
                <a:srgbClr val="1D79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400" b="1" i="0" dirty="0">
              <a:solidFill>
                <a:srgbClr val="1D79B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Видимая краткосрочная синхронность тональности и цены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Формальные тесты не подтверждают устойчивой причинной связи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Дневная агрегация маскирует внутридневные эффекты</a:t>
            </a:r>
          </a:p>
        </p:txBody>
      </p:sp>
      <p:pic>
        <p:nvPicPr>
          <p:cNvPr id="16" name="Picture 15" descr="sentiment_vs_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5" y="1135060"/>
            <a:ext cx="4077762" cy="174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8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77191" y="4526253"/>
            <a:ext cx="384284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10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8038F9-F40C-A494-D9E8-890110004AAF}"/>
              </a:ext>
            </a:extLst>
          </p:cNvPr>
          <p:cNvSpPr txBox="1"/>
          <p:nvPr/>
        </p:nvSpPr>
        <p:spPr>
          <a:xfrm>
            <a:off x="1371600" y="36576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D79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результаты и выводы</a:t>
            </a:r>
            <a:endParaRPr lang="en-US" sz="2000" b="1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F4D8EA-D068-39F6-B874-FFFBD9F12E60}"/>
              </a:ext>
            </a:extLst>
          </p:cNvPr>
          <p:cNvSpPr txBox="1"/>
          <p:nvPr/>
        </p:nvSpPr>
        <p:spPr>
          <a:xfrm>
            <a:off x="529770" y="431171"/>
            <a:ext cx="80844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Связь «тональность → доходность» различается по активам: BTC и ETH (r ≈ 0,22 – 0,26) против BNB (r ≈ 0,04)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Тональность не обладает значимой предсказательной способностью — модели не превосходят наивный baseline ни для одной криптовалюты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Результаты согласуются с гипотезой эффективности рынка в слабой форме (weak-form market efficiency)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VADER и FinBERT существенно расходятся (58 %); для дневного анализа предпочтительнее VADER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Разработан воспроизводимый модульный комплекс с 354 тестами и CI/CD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7AB28-65D4-5AA1-1EB3-760BA3FB8A74}"/>
              </a:ext>
            </a:extLst>
          </p:cNvPr>
          <p:cNvSpPr txBox="1"/>
          <p:nvPr/>
        </p:nvSpPr>
        <p:spPr>
          <a:xfrm>
            <a:off x="2445656" y="2413045"/>
            <a:ext cx="425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и направления развития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160DB-1A8E-4BAA-E4CB-ADB1C0EE680B}"/>
              </a:ext>
            </a:extLst>
          </p:cNvPr>
          <p:cNvSpPr txBox="1"/>
          <p:nvPr/>
        </p:nvSpPr>
        <p:spPr>
          <a:xfrm>
            <a:off x="529770" y="2732926"/>
            <a:ext cx="84473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Ограничения: короткий горизонт (36 дней), режим «криптозимы» 2022 г., дневной уровень агрегации</a:t>
            </a:r>
            <a:endParaRPr lang="en-US" sz="1400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горизонта до 6–12 месяцев — рост мощности теста до ≥ 80 %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 к часовой агрегации; дообучение FinBERT на криптовалютных текстах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Многофакторные модели (макро- и on-chain метрики); сегментация по типам авторов</a:t>
            </a:r>
          </a:p>
          <a:p>
            <a:pPr algn="l"/>
            <a:endParaRPr lang="ru-RU" sz="1400" i="1" dirty="0">
              <a:solidFill>
                <a:srgbClr val="0D47A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66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77191" y="4526253"/>
            <a:ext cx="384284" cy="273844"/>
          </a:xfrm>
        </p:spPr>
        <p:txBody>
          <a:bodyPr/>
          <a:lstStyle/>
          <a:p>
            <a:pPr algn="ctr"/>
            <a:fld id="{897B1AD0-CEE0-234F-8740-2B05DEBC40E6}" type="slidenum">
              <a:rPr lang="en-US" smtClean="0">
                <a:solidFill>
                  <a:srgbClr val="008000"/>
                </a:solidFill>
                <a:latin typeface="Trebuchet MS"/>
                <a:cs typeface="Trebuchet MS"/>
              </a:rPr>
              <a:pPr algn="ctr"/>
              <a:t>11</a:t>
            </a:fld>
            <a:endParaRPr lang="en-US" dirty="0">
              <a:solidFill>
                <a:srgbClr val="008000"/>
              </a:solidFill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4" y="4429506"/>
            <a:ext cx="2411146" cy="4400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62673" y="4663175"/>
            <a:ext cx="5442512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2673" y="4712328"/>
            <a:ext cx="5442512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712328"/>
            <a:ext cx="331015" cy="0"/>
          </a:xfrm>
          <a:prstGeom prst="line">
            <a:avLst/>
          </a:prstGeom>
          <a:ln w="38100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-1198" y="4662788"/>
            <a:ext cx="331015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2673" y="4629036"/>
            <a:ext cx="5442512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4629036"/>
            <a:ext cx="331015" cy="0"/>
          </a:xfrm>
          <a:prstGeom prst="line">
            <a:avLst/>
          </a:prstGeom>
          <a:ln w="127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8038F9-F40C-A494-D9E8-890110004AAF}"/>
              </a:ext>
            </a:extLst>
          </p:cNvPr>
          <p:cNvSpPr txBox="1"/>
          <p:nvPr/>
        </p:nvSpPr>
        <p:spPr>
          <a:xfrm>
            <a:off x="1371600" y="36576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rgbClr val="1D79B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 проекта</a:t>
            </a:r>
            <a:endParaRPr lang="en-US" sz="2000" b="1" dirty="0">
              <a:solidFill>
                <a:srgbClr val="1D79B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D7B5FE-7B16-4FF5-21DF-EA94C5C51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117600"/>
            <a:ext cx="3017520" cy="3017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209BDC-90A0-6FE0-613B-56C289B8E1B4}"/>
              </a:ext>
            </a:extLst>
          </p:cNvPr>
          <p:cNvSpPr txBox="1"/>
          <p:nvPr/>
        </p:nvSpPr>
        <p:spPr>
          <a:xfrm>
            <a:off x="2271931" y="731199"/>
            <a:ext cx="4670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github.com/iragoum/crypto-sentiment-analysis/</a:t>
            </a:r>
          </a:p>
        </p:txBody>
      </p:sp>
    </p:spTree>
    <p:extLst>
      <p:ext uri="{BB962C8B-B14F-4D97-AF65-F5344CB8AC3E}">
        <p14:creationId xmlns:p14="http://schemas.microsoft.com/office/powerpoint/2010/main" val="409618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324F5-BE65-C375-6865-06776E296E21}"/>
              </a:ext>
            </a:extLst>
          </p:cNvPr>
          <p:cNvSpPr txBox="1"/>
          <p:nvPr/>
        </p:nvSpPr>
        <p:spPr>
          <a:xfrm>
            <a:off x="2224312" y="788441"/>
            <a:ext cx="463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i="0" dirty="0">
                <a:solidFill>
                  <a:srgbClr val="1D79B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57AA57-7BEE-54E2-9DD5-D24DAF899796}"/>
              </a:ext>
            </a:extLst>
          </p:cNvPr>
          <p:cNvSpPr/>
          <p:nvPr/>
        </p:nvSpPr>
        <p:spPr>
          <a:xfrm>
            <a:off x="1124857" y="2082800"/>
            <a:ext cx="6836229" cy="1603829"/>
          </a:xfrm>
          <a:prstGeom prst="rect">
            <a:avLst/>
          </a:prstGeom>
          <a:solidFill>
            <a:srgbClr val="1D79B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E906AC-8042-72FD-CE53-C94A0D4D4647}"/>
              </a:ext>
            </a:extLst>
          </p:cNvPr>
          <p:cNvSpPr/>
          <p:nvPr/>
        </p:nvSpPr>
        <p:spPr>
          <a:xfrm>
            <a:off x="1219200" y="2082799"/>
            <a:ext cx="6741886" cy="160382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4910D-87FA-7E2E-E786-5D7BA4B3FACB}"/>
              </a:ext>
            </a:extLst>
          </p:cNvPr>
          <p:cNvSpPr txBox="1"/>
          <p:nvPr/>
        </p:nvSpPr>
        <p:spPr>
          <a:xfrm>
            <a:off x="3127828" y="2202418"/>
            <a:ext cx="283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i="0" dirty="0">
                <a:solidFill>
                  <a:srgbClr val="2980B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Контактная информация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E4034-BCAA-5A92-D346-077DB1850AAA}"/>
              </a:ext>
            </a:extLst>
          </p:cNvPr>
          <p:cNvSpPr txBox="1"/>
          <p:nvPr/>
        </p:nvSpPr>
        <p:spPr>
          <a:xfrm>
            <a:off x="1216152" y="2670048"/>
            <a:ext cx="6739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Мугари Абдеррахим, группа НФИбд-01-22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B73E35-958B-4762-490B-4CBFB77699B2}"/>
              </a:ext>
            </a:extLst>
          </p:cNvPr>
          <p:cNvSpPr txBox="1"/>
          <p:nvPr/>
        </p:nvSpPr>
        <p:spPr>
          <a:xfrm>
            <a:off x="3958771" y="3062944"/>
            <a:ext cx="1262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" y="2999232"/>
            <a:ext cx="6739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333333"/>
                </a:solidFill>
                <a:latin typeface="Times New Roman"/>
              </a:rPr>
              <a:t>1032215692@rudn</a:t>
            </a:r>
            <a:r>
              <a:rPr sz="1400" b="0" dirty="0">
                <a:solidFill>
                  <a:srgbClr val="333333"/>
                </a:solidFill>
                <a:latin typeface="Times New Roman"/>
              </a:rPr>
              <a:t>.</a:t>
            </a:r>
            <a:r>
              <a:rPr lang="en-US" sz="1400" b="0" dirty="0">
                <a:solidFill>
                  <a:srgbClr val="333333"/>
                </a:solidFill>
                <a:latin typeface="Times New Roman"/>
              </a:rPr>
              <a:t>ru</a:t>
            </a:r>
            <a:endParaRPr sz="1400" b="0" dirty="0">
              <a:solidFill>
                <a:srgbClr val="333333"/>
              </a:solidFill>
              <a:latin typeface="Times New Roman"/>
            </a:endParaRPr>
          </a:p>
          <a:p>
            <a:pPr algn="ctr"/>
            <a:r>
              <a:rPr sz="1400" b="0" dirty="0">
                <a:solidFill>
                  <a:srgbClr val="333333"/>
                </a:solidFill>
                <a:latin typeface="Times New Roman"/>
              </a:rPr>
              <a:t>github.com/</a:t>
            </a:r>
            <a:r>
              <a:rPr sz="1400" b="0" dirty="0" err="1">
                <a:solidFill>
                  <a:srgbClr val="333333"/>
                </a:solidFill>
                <a:latin typeface="Times New Roman"/>
              </a:rPr>
              <a:t>iragoum</a:t>
            </a:r>
            <a:r>
              <a:rPr sz="1400" b="0" dirty="0">
                <a:solidFill>
                  <a:srgbClr val="333333"/>
                </a:solidFill>
                <a:latin typeface="Times New Roman"/>
              </a:rPr>
              <a:t>/crypto-sentiment-analysis</a:t>
            </a:r>
          </a:p>
        </p:txBody>
      </p:sp>
    </p:spTree>
    <p:extLst>
      <p:ext uri="{BB962C8B-B14F-4D97-AF65-F5344CB8AC3E}">
        <p14:creationId xmlns:p14="http://schemas.microsoft.com/office/powerpoint/2010/main" val="356729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2458</TotalTime>
  <Words>1008</Words>
  <Application>Microsoft Office PowerPoint</Application>
  <PresentationFormat>On-screen Show (16:9)</PresentationFormat>
  <Paragraphs>183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Segoe UI</vt:lpstr>
      <vt:lpstr>Times New Roman</vt:lpstr>
      <vt:lpstr>Trebuchet MS</vt:lpstr>
      <vt:lpstr>Office Theme</vt:lpstr>
      <vt:lpstr>PowerPoint Presentation</vt:lpstr>
      <vt:lpstr> Актуальность исследования </vt:lpstr>
      <vt:lpstr>Цель и задачи исследования</vt:lpstr>
      <vt:lpstr>Данные исследования</vt:lpstr>
      <vt:lpstr>Программный комплекс и методология</vt:lpstr>
      <vt:lpstr>Результаты: тональность и доходность</vt:lpstr>
      <vt:lpstr>Предсказательная способность тональности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 В ДВЕ И БОЛЕЕ СТРОК</dc:title>
  <dc:creator>Непомнящий Евгений</dc:creator>
  <cp:lastModifiedBy>abderrahim mougari</cp:lastModifiedBy>
  <cp:revision>24</cp:revision>
  <dcterms:created xsi:type="dcterms:W3CDTF">2017-01-25T11:18:17Z</dcterms:created>
  <dcterms:modified xsi:type="dcterms:W3CDTF">2026-06-07T09:27:08Z</dcterms:modified>
</cp:coreProperties>
</file>